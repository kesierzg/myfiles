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678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Hurtownia dla Bazaru Cieni — sprzedajemy dusze, eliksiry i Arkę Przymierza śmiertelnym, którzy tu nie powinni trafić. Oracle PL/SQL, schemat gwiazdy.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[1] OLTP w pliku SQL. Wskaż soul_fraction w order_items i waluty SMOCZE/TALARY.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[3] DWH w SQL. Wyjaśnij granularność — jedna pozycja zamówienia.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Kluczowe zdanie dla Typ 2: 'chcę wiedzieć jaki był status duszy klienta w momencie konkretnej transakcji.' Pokaż UPDATE w [4] ETL.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[4] ETL w SQL. Sekcja 4.5 dimCustomer — dwuetapowy UPDATE+INSERT.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NA ŻYWO: uruchom 5.2 (ROLLUP) i 5.8 (LAG MoM) z pliku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[6] OPTYMALIZACJA w SQL. Kluczowe: CUBE z 12s do 3,1s. Indeksy bitmapowe tylko w DWH.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Zakończ cytatem. Pytania.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Butański Bazar Cieni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Hurtownia Danych / Oracle PL/SQL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804672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746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 gwiazdy  ·  SCD 1/2/3  ·  ETL  ·  analityka SQL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 analizy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zmienia się sprzedaż wg wymiarów sklepu i czasu?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Przychody wg kategorii (dusze, eliksiry, klątwy) — MoM / YoY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Które segmenty klientów (cursed_newcomer → platinum_heretic) są najlepsze?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 % transakcji płacony jest Smoczymi Monetami lub przysięgą krwi?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pełnia księżyca i piątek 13-go powodują anomalie? (spoiler: tak)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źródłowy OLTP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oltp_customers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795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bazaru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soul_status (intact/sold/disputed), loyalty_tier (newcomer→heretic), how_found_us, is_banned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oltp_products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037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Asortyment: dusze, eliksiry, relikwie, klątwy, artefakty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59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unit_price, unit_cost, currency (SMOCZE/GOLD/TALARY), is_cursed, origin_realm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oltp_categories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278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Hierarchia kategorii (2 poziomy: nadkategoria → podkategoria)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83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parent_id, danger_level (1–5)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oltp_stores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Sklepy wymiarowe i międzyprzestrzenne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07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dimension, access_method, store_type, danger_rating, manager_species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896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oltp_orders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1795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Zamówienia klientów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435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store_id, order_date, status (completed/cursed_pending/...)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oltp_order_items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2037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Pozycje zamówień — każdy wiersz = jeden produkt w zamówieniu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459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unit_price, discount_pct, soul_fraction (0–1: ułamek duszy jako dopłata)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2944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oltp_payments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2278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Płatności przypisane do zamówień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483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currency, method (soul_transfer / blood_oath / wish_token / blik)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07992" y="804672"/>
            <a:ext cx="0" cy="4206240"/>
          </a:xfrm>
          <a:prstGeom prst="line">
            <a:avLst/>
          </a:prstGeom>
          <a:noFill/>
          <a:ln w="5080">
            <a:solidFill>
              <a:srgbClr val="DDDDDD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48640" y="46817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BLIK akceptowany nawet w wymiarach poza-euklidesowych. Bez prowizji.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 gwiazdy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granularność: jedna pozycja zamówienia (order_item)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50976"/>
            <a:ext cx="822960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46120" y="987552"/>
            <a:ext cx="2743200" cy="804672"/>
          </a:xfrm>
          <a:prstGeom prst="roundRect">
            <a:avLst>
              <a:gd name="adj" fmla="val 6818"/>
            </a:avLst>
          </a:prstGeom>
          <a:solidFill>
            <a:srgbClr val="2A2A2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987552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38383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124712"/>
            <a:ext cx="2743200" cy="1371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0241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dimDate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30952" y="104241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statyczny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2743200" cy="0"/>
          </a:xfrm>
          <a:prstGeom prst="line">
            <a:avLst/>
          </a:prstGeom>
          <a:noFill/>
          <a:ln w="508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307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date_key (PK)  year  quarter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55848" y="1508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is_full_moon  is_cursed_day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792224"/>
            <a:ext cx="0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69164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2A2A2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1691640"/>
            <a:ext cx="2606040" cy="274320"/>
          </a:xfrm>
          <a:prstGeom prst="roundRect">
            <a:avLst>
              <a:gd name="adj" fmla="val 20000"/>
            </a:avLst>
          </a:prstGeom>
          <a:solidFill>
            <a:srgbClr val="38383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828800"/>
            <a:ext cx="2606040" cy="1371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72821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dimCustomer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30552" y="174650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1965960"/>
            <a:ext cx="2606040" cy="0"/>
          </a:xfrm>
          <a:prstGeom prst="line">
            <a:avLst/>
          </a:prstGeom>
          <a:noFill/>
          <a:ln w="508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0116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customer_key (PK)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" y="22128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soul_status, loyalty_tier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" y="24140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valid_from, valid_to, is_current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2240280"/>
            <a:ext cx="475488" cy="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01752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2A2A2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017520"/>
            <a:ext cx="2606040" cy="274320"/>
          </a:xfrm>
          <a:prstGeom prst="roundRect">
            <a:avLst>
              <a:gd name="adj" fmla="val 20000"/>
            </a:avLst>
          </a:prstGeom>
          <a:solidFill>
            <a:srgbClr val="38383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3154680"/>
            <a:ext cx="2606040" cy="1371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0540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dimProduct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30552" y="307238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291840"/>
            <a:ext cx="2606040" cy="0"/>
          </a:xfrm>
          <a:prstGeom prst="line">
            <a:avLst/>
          </a:prstGeom>
          <a:noFill/>
          <a:ln w="508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3375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product_key (PK)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35387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category_name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2608" y="373989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prev_category_name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88920" y="3520440"/>
            <a:ext cx="475488" cy="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1901952"/>
            <a:ext cx="2743200" cy="2240280"/>
          </a:xfrm>
          <a:prstGeom prst="roundRect">
            <a:avLst>
              <a:gd name="adj" fmla="val 2449"/>
            </a:avLst>
          </a:prstGeom>
          <a:solidFill>
            <a:srgbClr val="2A2A2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1901952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38383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2039112"/>
            <a:ext cx="2743200" cy="1371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19385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factSales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46120" y="2176272"/>
            <a:ext cx="2743200" cy="0"/>
          </a:xfrm>
          <a:prstGeom prst="line">
            <a:avLst/>
          </a:prstGeom>
          <a:noFill/>
          <a:ln w="5080">
            <a:solidFill>
              <a:srgbClr val="44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22219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date_key (FK)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55848" y="2423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customer_key (FK)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55848" y="26243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product_key (FK)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55848" y="2825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store_key (FK)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55848" y="30266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payment_method_key (FK)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55848" y="32278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55848" y="3429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quantity, unit_price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55848" y="3630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revenue, cost, profit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355848" y="38313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soul_fraction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55080" y="169164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2A2A2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1691640"/>
            <a:ext cx="2606040" cy="274320"/>
          </a:xfrm>
          <a:prstGeom prst="roundRect">
            <a:avLst>
              <a:gd name="adj" fmla="val 20000"/>
            </a:avLst>
          </a:prstGeom>
          <a:solidFill>
            <a:srgbClr val="38383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1828800"/>
            <a:ext cx="2606040" cy="1371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172821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dimStore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302752" y="174650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355080" y="1965960"/>
            <a:ext cx="2606040" cy="0"/>
          </a:xfrm>
          <a:prstGeom prst="line">
            <a:avLst/>
          </a:prstGeom>
          <a:noFill/>
          <a:ln w="5080">
            <a:solidFill>
              <a:srgbClr val="44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64808" y="20116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store_key (PK)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64808" y="22128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dimension, access_method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464808" y="24140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danger_rating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989320" y="2240280"/>
            <a:ext cx="384048" cy="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55080" y="301752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2A2A2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55080" y="3017520"/>
            <a:ext cx="2606040" cy="274320"/>
          </a:xfrm>
          <a:prstGeom prst="roundRect">
            <a:avLst>
              <a:gd name="adj" fmla="val 20000"/>
            </a:avLst>
          </a:prstGeom>
          <a:solidFill>
            <a:srgbClr val="383838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55080" y="3154680"/>
            <a:ext cx="2606040" cy="1371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30540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dimPaymentMethod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302752" y="307238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statyczny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55080" y="3291840"/>
            <a:ext cx="2606040" cy="0"/>
          </a:xfrm>
          <a:prstGeom prst="line">
            <a:avLst/>
          </a:prstGeom>
          <a:noFill/>
          <a:ln w="5080">
            <a:solidFill>
              <a:srgbClr val="44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64808" y="33375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payment_method_key (PK)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464808" y="35387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method_code, currency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464808" y="373989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is_soul_based, risk_level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989320" y="3520440"/>
            <a:ext cx="384048" cy="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4343400"/>
            <a:ext cx="822960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434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1: nadpisanie bez historii   ·   SCD 2: nowy rekord przy zmianie   ·   SCD 3: bieżąca + poprzednia wartość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Wolno zmieniające się wymiary (SCD)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 1  —  dimStore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5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Nadpisanie bez historii (UPDATE)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27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przeniesiony z Kielc do Radomia? Aktualizujemy i nie pytamy o przeszłość.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Historyczna lokalizacja portalu nie ma żadnej wartości biznesowej.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kolumny: brak nowych kolumn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804672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ysDash"/>
          </a:ln>
        </p:spPr>
      </p:sp>
      <p:sp>
        <p:nvSpPr>
          <p:cNvPr id="9" name="Text 7"/>
          <p:cNvSpPr/>
          <p:nvPr/>
        </p:nvSpPr>
        <p:spPr>
          <a:xfrm>
            <a:off x="548640" y="22585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 2  —  dimCustomer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5511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5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 rekord przy zmianie (zamknij stary, wstaw nowy)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2549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awansuje z cursed_newcomer → platinum_heretic albo sprzedaje duszę (intact → sold).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Chcemy wiedzieć jaki był jego status W MOMENCIE każdej transakcji.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32841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kolumny: valid_from, valid_to, is_current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548640" y="35570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 3  —  dimProduct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496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5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Bieżąca + poprzednia wartość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2394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przeklasyfikowany po interwencji Kosmicznej Inspekcji Handlowej?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Zapisujemy skąd pochodzi i gdzie teraz jest. Pełna historia zbędna.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6268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kolumny: prev_category_name, category_changed_at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ETL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9784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DECLARE...LOOP — kalendarz 2018–2025, flagi: pełnia, piątek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dimPaymentMethod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6184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ze słownika — 7 metod, w tym BLIK (tak, działa w każdym wymiarze)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dimStore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2585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→ SCD Typ 1: UPDATE nadpisuje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dimProduct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8986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→ SCD Typ 3: zachowuje prev_category przy zmianie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dimCustomer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538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(krok A: zamknij) + INSERT (krok B: nowy rekord) → SCD Typ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B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factSales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41788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z wielostronnym JOIN; NVL dla NULL; NOT EXISTS = przyrostowe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0974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wielowymiarowa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Grupowanie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07592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 → rok › kwartał › miesiąc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 → kategoria › produkt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 → wymiar › sklep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→ rok × kategoria × wymiar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SETS → wybrane przekroje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Funkcje analityczne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307592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/ DENSE_RANK() → ranking produktów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OVER() → sprzedaż skumulowana YTD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/ LEAD() → MoM i YoY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STDDEV() OVER() → anomalie (Z-score)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SUM() OVER() → udział procentowy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914400"/>
            <a:ext cx="0" cy="2651760"/>
          </a:xfrm>
          <a:prstGeom prst="line">
            <a:avLst/>
          </a:prstGeom>
          <a:noFill/>
          <a:ln w="5080">
            <a:solidFill>
              <a:srgbClr val="DDDDD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3703320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Indeksy B-tree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66160" y="97840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wszystkich FK tabeli factSales; indeks złożony year+quarter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Indeksy bitmapowe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17099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store_key, payment_method_key — niska kardynalność, read-mostly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Partycjonowanie RANGE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4414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factSales wg roku (9 partycji 2018–2025+); partition pruning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1729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planów przez DBMS_XPLAN.DISPLAY; statystyki przez DBMS_STATS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8046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96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4114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CUBE: 12s → 3,1s (−74%)   ·   filtr roczny: 8,3s → 0,9s (−89%)   ·   ranking: 4,1s → 1,2s (−71%)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 gwiazdy: factSales + 5 wymiarów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strategie SCD: Typ 1 (Store) · Typ 2 (Customer) · Typ 3 (Product)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z MERGE/UPDATE, NVL, ładowaniem przyrostowym (NOT EXISTS)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 / CUBE / GROUPING SETS + LAG / LEAD / RANK / STDDEV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optymalizacja: indeksy B-tree + bitmapowe + partycjonowanie wg roku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80467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1141</Words>
  <Application>Microsoft Macintosh PowerPoint</Application>
  <PresentationFormat>On-screen Show (16:9)</PresentationFormat>
  <Paragraphs>151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Grzegorz Ziąbkowski</cp:lastModifiedBy>
  <cp:revision>3</cp:revision>
  <dcterms:created xsi:type="dcterms:W3CDTF">2026-06-10T08:29:59Z</dcterms:created>
  <dcterms:modified xsi:type="dcterms:W3CDTF">2026-06-10T08:31:38Z</dcterms:modified>
</cp:coreProperties>
</file>